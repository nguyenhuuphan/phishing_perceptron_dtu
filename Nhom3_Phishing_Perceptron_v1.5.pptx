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3" r:id="rId9"/>
    <p:sldId id="264" r:id="rId10"/>
    <p:sldId id="265" r:id="rId11"/>
    <p:sldId id="276" r:id="rId12"/>
    <p:sldId id="277" r:id="rId13"/>
    <p:sldId id="278" r:id="rId14"/>
    <p:sldId id="279" r:id="rId15"/>
    <p:sldId id="282" r:id="rId16"/>
    <p:sldId id="283" r:id="rId17"/>
    <p:sldId id="28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06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94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47FC-8F59-A80C-2E8B-88A04161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C546B-CC30-972F-9A7D-544973BA5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39FC1-7D76-D455-0322-AAEFE3080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891E5-E37D-0CEE-0975-C2C5CC5BC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264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87C7-403B-9920-5C9F-5F955070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86096-A124-CC24-EDC5-72F491F1B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5BE0F-512A-A861-EF7D-126789431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30313-E726-155F-78A5-5E8FED655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91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6400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10972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15544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6400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0972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5544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6400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10972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15544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6400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0" y="10972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15544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6400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5680" y="10972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0" y="1554480"/>
            <a:ext cx="41148" cy="41148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DB4D0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HỌC MÁY — CAO HỌC · ĐẠI HỌC DUY TÂN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182880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bằng Perceptron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23774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Perceptron  | Dataset Phishing Websites (UCI) | 30 đặc trưng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Nhóm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3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GVHD: TS. Đặng Việt Hùng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BỐI CẢNH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Vì sao cần phát hiện website phishing?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56%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Phishing do AI tạo ra trong 12/2025 (tăng từ 4%)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7482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482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30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49140" y="280741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Đặc</a:t>
            </a: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trưng nhận diện trong dataset UCI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0100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0100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2 lớp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82853" y="2786868"/>
            <a:ext cx="31803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Phishing / legitimate cần phân loại tự động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Người dùng khó phân biệt trang đăng nhập giả với thật — cần mô hình tự động chấm điểm rủi ro từ chính cấu trúc URL và nội dung trang.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788152"/>
            <a:ext cx="11091672" cy="274320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Nguồn: Hoxhunt Phishing Trends Report 2026 (50M+ điểm dữ liệu từ 4M+ người dùng)</a:t>
            </a:r>
            <a:endParaRPr lang="en-US" sz="11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ĐỊNH HƯỚNG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Mục tiêu &amp; phạm vi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0B0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Cài đặt Perceptron từ đầu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Triển khai đúng thuật toán trong </a:t>
            </a:r>
            <a:r>
              <a:rPr lang="en-US" sz="1400" dirty="0" err="1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giáo</a:t>
            </a: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trình</a:t>
            </a: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— không dùng thư viện ML có sẵn.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0B0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Huấn luyện trên dataset UCI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11.055</a:t>
            </a: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mẫu,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30</a:t>
            </a: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đặc trưng, đánh giá bằng misclassification rate.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242816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0B0F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4197096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Trích 30 đặc trưng từ URL thật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4636008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Biến một URL bất kỳ thành vector đầu vào cho mô hình đã huấn luyện.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449824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0B0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5404104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Demo phát hiện phishing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5843016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CLI + Web MVP + trang phishing giả lập để minh hoạ khả năng phát hiện.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DỮ LIỆU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Dataset Phishing Websites (UCI)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11.055 mẫu · 30 đặc trưng · nhãn Result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Mỗi đặc trưng nhận giá trị trong {-1, 0, 1}.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-1 = legitimate, 1 = phishing, 0 = trung gian.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Nhãn Result: -1 (hợp lệ) / 1 (lừa đảo).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Chia: Training 6.157 mẫu · Testing 4.898 mẫu.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959352"/>
            <a:ext cx="52509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30A0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Nguồn: UCI Machine Learning Repository — Phishing Websites (id 327)</a:t>
            </a:r>
            <a:endParaRPr lang="en-US" sz="11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A4A4C5CE-13EA-FDD3-3EA4-AECBC3676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977753"/>
              </p:ext>
            </p:extLst>
          </p:nvPr>
        </p:nvGraphicFramePr>
        <p:xfrm>
          <a:off x="6492240" y="1737360"/>
          <a:ext cx="5120640" cy="38221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Đặc trưng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Ý nghĩa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Nhóm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URL_Length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Độ dài URL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Address Bar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having_Sub_Domain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Số sub-domain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Address Bar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SSLfinal_State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Trạng thái chứng chỉ SSL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Address Bar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URL_of_Anchor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Anchor trỏ ra ngoài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Abnormal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SFH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Server Form Handler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Abnormal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Redirect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Chuỗi redirect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HTML/JS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Iframe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Có iframe ẩn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HTML/JS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age_of_domain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Tuổi domain (WHOIS)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Domain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web_traffic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Lưu lượng truy cập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Domain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Statistical_report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Báo cáo thống kê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Segoe UI" pitchFamily="34" charset="-122"/>
                          <a:cs typeface="Arial" panose="020B0604020202020204" pitchFamily="34" charset="0"/>
                        </a:rPr>
                        <a:t>Statistical</a:t>
                      </a:r>
                      <a:endParaRPr lang="en-US" sz="1200" dirty="0">
                        <a:latin typeface="Arial" panose="020B0604020202020204" pitchFamily="34" charset="0"/>
                        <a:ea typeface="Segoe UI" charset="0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 HOẠCH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 hoạch </a:t>
            </a:r>
            <a:r>
              <a:rPr lang="en-US" sz="3000" b="1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thực</a:t>
            </a: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hiện</a:t>
            </a: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(1)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2395728"/>
            <a:ext cx="10451592" cy="0"/>
          </a:xfrm>
          <a:prstGeom prst="line">
            <a:avLst/>
          </a:prstGeom>
          <a:noFill/>
          <a:ln w="31750">
            <a:solidFill>
              <a:srgbClr val="2E5A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56639" y="219456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56639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GĐ1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035454" cy="214884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7611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Dữ liệu &amp; tiền xử lý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Tải dataset UCI, ARFF → CSV sạch, kiểm tra chất lượng.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4754880"/>
            <a:ext cx="146304" cy="14630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4645152"/>
            <a:ext cx="1578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74974" y="219456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7497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GĐ2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58414" y="2880360"/>
            <a:ext cx="2035454" cy="214884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995574" y="3063240"/>
            <a:ext cx="17611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Perceptron + huấn luyện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95574" y="388620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Cài đặt từ đầu, huấn luyện, đánh giá misclassification.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995574" y="4754880"/>
            <a:ext cx="146304" cy="14630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205886" y="4645152"/>
            <a:ext cx="1578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93308" y="219456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89330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GĐ3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6749" y="2880360"/>
            <a:ext cx="2035454" cy="214884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13909" y="3063240"/>
            <a:ext cx="17611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Trích 30 đặc trưng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3908" y="3886200"/>
            <a:ext cx="18982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URL/HTML/DNS/SSL → vector đầu vào cho mô hình.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3909" y="4754880"/>
            <a:ext cx="146304" cy="14630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24221" y="4645152"/>
            <a:ext cx="1578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1642" y="219456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11164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GĐ4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95083" y="2880360"/>
            <a:ext cx="2035454" cy="214884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32243" y="3063240"/>
            <a:ext cx="17611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Demo CLI +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32243" y="375517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Detect_service</a:t>
            </a: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, Flask MVP, explainability.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32243" y="4754880"/>
            <a:ext cx="146304" cy="14630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42555" y="4645152"/>
            <a:ext cx="1578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329977" y="2194560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0329977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GĐ5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513418" y="2880360"/>
            <a:ext cx="2035454" cy="2148840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650578" y="3063240"/>
            <a:ext cx="17611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Phishing giả lập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68281" y="3736874"/>
            <a:ext cx="19805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Clone mydtu Signin, minh hoạ phát hiện.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50578" y="4754880"/>
            <a:ext cx="146304" cy="14630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9860890" y="4645152"/>
            <a:ext cx="1578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Thực</a:t>
            </a: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lang="en-US" sz="1300" b="1" dirty="0" err="1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hiện</a:t>
            </a: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5 giai đoạn, mỗi giai đoạn có deliverable </a:t>
            </a:r>
            <a:r>
              <a:rPr lang="en-US" sz="1300" b="1" dirty="0" err="1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rõ</a:t>
            </a: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lang="en-US" sz="1300" b="1" dirty="0" err="1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ràng</a:t>
            </a: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.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1A64C-464E-66D2-0BC8-D1FC45BB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A6EFD6-62F4-94BA-B775-57E55F1F02EE}"/>
              </a:ext>
            </a:extLst>
          </p:cNvPr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E5A88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 HOẠCH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3DC0D4-0060-E256-D328-7F9580A1716C}"/>
              </a:ext>
            </a:extLst>
          </p:cNvPr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 hoạch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thực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hiện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(2)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34CCA66-767E-21A5-25F8-BD6B10475C78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7085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6B906ED-1504-A783-EE4C-120F5BFD9044}"/>
              </a:ext>
            </a:extLst>
          </p:cNvPr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7085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BEA4313-08BB-5F8B-1697-6A12FB812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52679"/>
              </p:ext>
            </p:extLst>
          </p:nvPr>
        </p:nvGraphicFramePr>
        <p:xfrm>
          <a:off x="511062" y="1653436"/>
          <a:ext cx="11307364" cy="3008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506">
                  <a:extLst>
                    <a:ext uri="{9D8B030D-6E8A-4147-A177-3AD203B41FA5}">
                      <a16:colId xmlns:a16="http://schemas.microsoft.com/office/drawing/2014/main" val="1437035305"/>
                    </a:ext>
                  </a:extLst>
                </a:gridCol>
                <a:gridCol w="5244026">
                  <a:extLst>
                    <a:ext uri="{9D8B030D-6E8A-4147-A177-3AD203B41FA5}">
                      <a16:colId xmlns:a16="http://schemas.microsoft.com/office/drawing/2014/main" val="2755850562"/>
                    </a:ext>
                  </a:extLst>
                </a:gridCol>
                <a:gridCol w="5012832">
                  <a:extLst>
                    <a:ext uri="{9D8B030D-6E8A-4147-A177-3AD203B41FA5}">
                      <a16:colId xmlns:a16="http://schemas.microsoft.com/office/drawing/2014/main" val="1459302862"/>
                    </a:ext>
                  </a:extLst>
                </a:gridCol>
              </a:tblGrid>
              <a:tr h="456513">
                <a:tc>
                  <a:txBody>
                    <a:bodyPr/>
                    <a:lstStyle/>
                    <a:p>
                      <a:pPr marL="49213" indent="0" algn="ctr" fontAlgn="b">
                        <a:buNone/>
                        <a:tabLst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Giai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đoạn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dung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218073"/>
                  </a:ext>
                </a:extLst>
              </a:tr>
              <a:tr h="5713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vi-VN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Tải dataset UCI, tiền xử lý ARFF → CSV, kiểm tra chất lượng</a:t>
                      </a:r>
                      <a:endParaRPr lang="vi-V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preprocess.py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+ output/*_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processed.csv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extLst>
                  <a:ext uri="{0D108BD9-81ED-4DB2-BD59-A6C34878D82A}">
                    <a16:rowId xmlns:a16="http://schemas.microsoft.com/office/drawing/2014/main" val="873945238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Cài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đặt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Perceptron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đầu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huấn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luyện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perceptron.py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train_eval.py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weights.npy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eval_results.json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extLst>
                  <a:ext uri="{0D108BD9-81ED-4DB2-BD59-A6C34878D82A}">
                    <a16:rowId xmlns:a16="http://schemas.microsoft.com/office/drawing/2014/main" val="4143796290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vi-VN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Trích 30 đặc trưng từ URL thật (URL/HTML/DNS/SSL)</a:t>
                      </a:r>
                      <a:endParaRPr lang="vi-V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feature_extractor.py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(22 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thật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+ 8 ≈0)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extLst>
                  <a:ext uri="{0D108BD9-81ED-4DB2-BD59-A6C34878D82A}">
                    <a16:rowId xmlns:a16="http://schemas.microsoft.com/office/drawing/2014/main" val="2812901381"/>
                  </a:ext>
                </a:extLst>
              </a:tr>
              <a:tr h="456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Demo: CLI + Web MVP (Flask) + explainability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 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detect_service.py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templates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extLst>
                  <a:ext uri="{0D108BD9-81ED-4DB2-BD59-A6C34878D82A}">
                    <a16:rowId xmlns:a16="http://schemas.microsoft.com/office/drawing/2014/main" val="984465600"/>
                  </a:ext>
                </a:extLst>
              </a:tr>
              <a:tr h="5713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vi-VN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Trang giả lập clone mydtu Signin → chứng minh Perceptron bắt được</a:t>
                      </a:r>
                      <a:endParaRPr lang="vi-V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tc>
                  <a:txBody>
                    <a:bodyPr/>
                    <a:lstStyle/>
                    <a:p>
                      <a:pPr marL="98425" indent="0" algn="l" fontAlgn="b">
                        <a:buNone/>
                        <a:tabLst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demo_phishing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signin.html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63" marR="8363" marT="8363" marB="0" anchor="ctr"/>
                </a:tc>
                <a:extLst>
                  <a:ext uri="{0D108BD9-81ED-4DB2-BD59-A6C34878D82A}">
                    <a16:rowId xmlns:a16="http://schemas.microsoft.com/office/drawing/2014/main" val="406579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834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144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LUỒNG XỬ LÝ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34054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Flow 1: </a:t>
            </a:r>
            <a:r>
              <a:rPr lang="en-US" sz="3000" b="1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Huấn</a:t>
            </a: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luyện (chạy 1 lần, tạo ra weights.npy)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6722" y="1577683"/>
            <a:ext cx="68384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Huấn luyện Perceptron offline từ dữ liệu đã tiền xử lý; chạy một lần, sinh ra bộ trọng số cho Luồng 2 phát hiện.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B6F633-6C75-CA36-CEC8-D07F56B6A09B}"/>
              </a:ext>
            </a:extLst>
          </p:cNvPr>
          <p:cNvGrpSpPr/>
          <p:nvPr/>
        </p:nvGrpSpPr>
        <p:grpSpPr>
          <a:xfrm>
            <a:off x="476722" y="2331720"/>
            <a:ext cx="6838478" cy="1449170"/>
            <a:chOff x="548640" y="2331720"/>
            <a:chExt cx="10995660" cy="2331720"/>
          </a:xfrm>
        </p:grpSpPr>
        <p:sp>
          <p:nvSpPr>
            <p:cNvPr id="5" name="Shape 3"/>
            <p:cNvSpPr/>
            <p:nvPr/>
          </p:nvSpPr>
          <p:spPr>
            <a:xfrm>
              <a:off x="548640" y="2331720"/>
              <a:ext cx="2697480" cy="233172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 lang="en-VN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777240" y="2560320"/>
              <a:ext cx="548640" cy="548640"/>
            </a:xfrm>
            <a:prstGeom prst="ellipse">
              <a:avLst/>
            </a:prstGeom>
            <a:solidFill>
              <a:srgbClr val="1F3A5F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77240" y="25603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1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77240" y="32918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Đọc dữ liệu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77240" y="3703320"/>
              <a:ext cx="22860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B7085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train_processed.csv: 30 đặc trưng + nhãn {0,1}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246120" y="3520440"/>
              <a:ext cx="71323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314700" y="2331720"/>
              <a:ext cx="2697480" cy="233172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3543300" y="2560320"/>
              <a:ext cx="548640" cy="548640"/>
            </a:xfrm>
            <a:prstGeom prst="ellipse">
              <a:avLst/>
            </a:prstGeom>
            <a:solidFill>
              <a:srgbClr val="1F3A5F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3543300" y="25603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2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543300" y="32918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Khởi tạo trọng số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543300" y="3703320"/>
              <a:ext cx="22860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B7085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w_j ngẫu nhiên (seed 42), bias [x;1]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012180" y="3520440"/>
              <a:ext cx="71323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080760" y="2331720"/>
              <a:ext cx="2697480" cy="233172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6309360" y="2560320"/>
              <a:ext cx="548640" cy="548640"/>
            </a:xfrm>
            <a:prstGeom prst="ellipse">
              <a:avLst/>
            </a:prstGeom>
            <a:solidFill>
              <a:srgbClr val="1F3A5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309360" y="25603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3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309360" y="32918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Vòng lặp huấn luyện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3703320"/>
              <a:ext cx="22860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B7085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≤100 epoch, cập nhật w khi phân loại sai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8778240" y="3520440"/>
              <a:ext cx="71323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846820" y="2331720"/>
              <a:ext cx="2697480" cy="233172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9075420" y="2560320"/>
              <a:ext cx="548640" cy="548640"/>
            </a:xfrm>
            <a:prstGeom prst="ellipse">
              <a:avLst/>
            </a:prstGeom>
            <a:solidFill>
              <a:srgbClr val="1F3A5F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9075420" y="256032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4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9075420" y="32918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Lưu kết quả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9075420" y="3703320"/>
              <a:ext cx="22860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B7085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weights.npy + eval_results.json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B233E61-6927-BF5C-D939-E70EB197968D}"/>
              </a:ext>
            </a:extLst>
          </p:cNvPr>
          <p:cNvGrpSpPr/>
          <p:nvPr/>
        </p:nvGrpSpPr>
        <p:grpSpPr>
          <a:xfrm>
            <a:off x="477231" y="4283809"/>
            <a:ext cx="6837969" cy="1315601"/>
            <a:chOff x="548639" y="4937759"/>
            <a:chExt cx="9399314" cy="1315601"/>
          </a:xfrm>
        </p:grpSpPr>
        <p:sp>
          <p:nvSpPr>
            <p:cNvPr id="28" name="Shape 26"/>
            <p:cNvSpPr/>
            <p:nvPr/>
          </p:nvSpPr>
          <p:spPr>
            <a:xfrm>
              <a:off x="548639" y="4937759"/>
              <a:ext cx="9399314" cy="1315601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777240" y="5138928"/>
              <a:ext cx="34747" cy="822960"/>
            </a:xfrm>
            <a:prstGeom prst="roundRect">
              <a:avLst/>
            </a:prstGeom>
            <a:solidFill>
              <a:srgbClr val="1E7A4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960120" y="5047488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7A46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Đầu ra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960121" y="5440680"/>
              <a:ext cx="89878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weights.npy — ma trận K×31 (30 đặc trưng + 1 bias), chạy 1 lần offline, dùng lại cho Luồng 2 phát hiện từng URL.</a:t>
              </a:r>
              <a:endParaRPr lang="en-US" sz="13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59525B4-8EBB-48B1-15A5-2B5360B9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519" y="1199306"/>
            <a:ext cx="3583297" cy="5374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GIAI ĐOẠN 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Tiền xử lý dữ liệu (preprocess.py)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Đọc ARFF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scipy.io.arff tải Training &amp; Testing.arff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3017520"/>
            <a:ext cx="77724" cy="0"/>
          </a:xfrm>
          <a:prstGeom prst="line">
            <a:avLst/>
          </a:prstGeom>
          <a:noFill/>
          <a:ln w="31750">
            <a:solidFill>
              <a:srgbClr val="2E5A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4700" y="1828800"/>
            <a:ext cx="26974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3300" y="20574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433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Mã hoá nhãn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4330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Result -1→0 (legit), 1→1 (phishing)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12180" y="3017520"/>
            <a:ext cx="77724" cy="0"/>
          </a:xfrm>
          <a:prstGeom prst="line">
            <a:avLst/>
          </a:prstGeom>
          <a:noFill/>
          <a:ln w="31750">
            <a:solidFill>
              <a:srgbClr val="2E5A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828800"/>
            <a:ext cx="26974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Kiểm tra chất lượng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Scan NaN, thống kê phân bố nhãn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778240" y="3017520"/>
            <a:ext cx="77724" cy="0"/>
          </a:xfrm>
          <a:prstGeom prst="line">
            <a:avLst/>
          </a:prstGeom>
          <a:noFill/>
          <a:ln w="31750">
            <a:solidFill>
              <a:srgbClr val="2E5A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46820" y="1828800"/>
            <a:ext cx="26974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75420" y="20574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90754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754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Xuất CSV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7542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train/test_processed.csv cho GĐ2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Kết quả: dữ liệu sạch (0 NaN), 30 cột đặc trưng + 1 cột nhãn, sẵn sàng cho huấn luyện.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8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GIAI ĐOẠN 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Thuật </a:t>
            </a:r>
            <a:r>
              <a:rPr lang="en-US" sz="3000" b="1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toán</a:t>
            </a: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Perceptron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Điểm số mỗi lớp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y_j = w_jᵀ · [x ; 1]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Dự đoán lớp = argmax y_j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3949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730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Cập nhật khi dự đoán sai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041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w_c ← w_c + α·[x;1]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w_t ← w_t − α·[x;1]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 bộ trọng số w_j — mỗi lớp một vector (K = 2 ở đây).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Bias ghép vào cuối vector [x;1].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Dừng khi hết epoch hoặc không còn cập nhật.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Hyperparameter: α = 0.1, max_epochs = 100, seed 42.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2199" y="36576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Dữ liệu phishing không tách tuyến tính hoàn toàn → mô hình không hội tụ tuyệt đối (~600 cập nhật/epoch còn lại), trọng số dao động quanh biên quyết định — hành vi đúng dự kiến của Perceptron.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9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GIAI ĐOẠN 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Cài đặt Perceptron từ đầu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perceptron.py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Class Perceptron: fit / predict / decision_function, ma trận W (K, n+1), khởi tạo normal(0.01).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8244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2564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train_eval.py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12564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Huấn luyện trên train, đánh giá misclassification rate + confusion matrix + precision/recall/F1 trên test.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7848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2168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Không dùng thư viện ML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02168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Toàn bộ vòng lặp cập nhật viết tay theo đúng công thức giáo trình — dễ đối chiếu lý thuyết.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3704"/>
            </a:avLst>
          </a:prstGeom>
          <a:solidFill>
            <a:srgbClr val="16263B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70916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scores = self.W @ xi            # y_j = w_jᵀ[x;1]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if pred != yi: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self.W[yi]   += self.alpha * xi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self.W[pred] -= self.alpha * xi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KẾT QUẢ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Đánh giá mô hình trên tập test (4.898 mẫu)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89.06%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Accuracy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7482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7482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90.30%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49140" y="280741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F1-score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01000" y="17373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0100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102E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10.94%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82853" y="2786868"/>
            <a:ext cx="31803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Misclassification rate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Precision 89.37% · Recall 91.26% · Confusion matrix — legit đúng 1.866/2.163, phishing đúng 2.496/2.735.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788152"/>
            <a:ext cx="11091672" cy="274320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Nguồn: output/eval_results.json — Perceptron α=0.1, epochs=100, seed 42</a:t>
            </a:r>
            <a:endParaRPr lang="en-US" sz="11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E5A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ĐOẠN 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Trích 30 đặc trưng từ URL thật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feature_extractor.py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22/30 đặc trưng tính xác định từ URL / HTML / DNS / SSL.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8244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12564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detect_service.py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12564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phối: trích đặc trưng → build vector → predict + explainability.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7848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02168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PhishTank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02168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 danh sách đen cho Statistical_report; 8 đặc trưng ≈0 (approximated).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3704"/>
            </a:avLst>
          </a:prstGeom>
          <a:solidFill>
            <a:srgbClr val="16263B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 đặc trưng: Address Bar · Abnormal · HTML/JS · Domain · Statistical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30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22/30 tính xác định · 8/30 ≈ 0 (cần dịch vụ ngoài: WHOIS, PageRank, Google Index…)</a:t>
            </a: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B70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E5A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ĐOẠN 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</a:t>
            </a:r>
            <a:r>
              <a:rPr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30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hát</a:t>
            </a:r>
            <a:r>
              <a:rPr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phishing </a:t>
            </a:r>
            <a:r>
              <a:rPr sz="3000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sz="30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engine Perceptron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44E6D2-0C5C-1BEF-F7B1-A4EBE864C938}"/>
              </a:ext>
            </a:extLst>
          </p:cNvPr>
          <p:cNvGrpSpPr/>
          <p:nvPr/>
        </p:nvGrpSpPr>
        <p:grpSpPr>
          <a:xfrm>
            <a:off x="283785" y="1828799"/>
            <a:ext cx="8148211" cy="1836000"/>
            <a:chOff x="548640" y="1828800"/>
            <a:chExt cx="10995660" cy="2468880"/>
          </a:xfrm>
        </p:grpSpPr>
        <p:sp>
          <p:nvSpPr>
            <p:cNvPr id="4" name="Shape 2"/>
            <p:cNvSpPr/>
            <p:nvPr/>
          </p:nvSpPr>
          <p:spPr>
            <a:xfrm>
              <a:off x="548640" y="1828800"/>
              <a:ext cx="2697480" cy="246888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777240" y="2057400"/>
              <a:ext cx="548640" cy="548640"/>
            </a:xfrm>
            <a:prstGeom prst="ellipse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20574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1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77240" y="27889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Nhập</a:t>
              </a: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URL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77240" y="3200400"/>
              <a:ext cx="22860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hoặc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URL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đầy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đủ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tự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thêm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scheme.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246120" y="3017520"/>
              <a:ext cx="77724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314700" y="1828800"/>
              <a:ext cx="2697480" cy="246888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543300" y="2057400"/>
              <a:ext cx="548640" cy="548640"/>
            </a:xfrm>
            <a:prstGeom prst="ellipse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543300" y="20574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2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543300" y="27889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Trích</a:t>
              </a: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30 </a:t>
              </a: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đặc</a:t>
              </a: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trưng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543300" y="3200400"/>
              <a:ext cx="22860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URL / HTML / DNS / SSL +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PhishTank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012180" y="3017520"/>
              <a:ext cx="77724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080760" y="1828800"/>
              <a:ext cx="2697480" cy="246888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309360" y="2057400"/>
              <a:ext cx="548640" cy="548640"/>
            </a:xfrm>
            <a:prstGeom prst="ellipse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309360" y="20574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3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309360" y="27889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Perceptron</a:t>
              </a:r>
              <a:r>
                <a:rPr sz="16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predict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309360" y="3200400"/>
              <a:ext cx="22860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30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weights.npy → xác suất phishing / legit.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8778240" y="3017520"/>
              <a:ext cx="77724" cy="0"/>
            </a:xfrm>
            <a:prstGeom prst="line">
              <a:avLst/>
            </a:prstGeom>
            <a:noFill/>
            <a:ln w="31750">
              <a:solidFill>
                <a:srgbClr val="2E5A88"/>
              </a:solidFill>
              <a:prstDash val="solid"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8846820" y="1828800"/>
              <a:ext cx="2697480" cy="246888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9075420" y="2057400"/>
              <a:ext cx="548640" cy="548640"/>
            </a:xfrm>
            <a:prstGeom prst="ellipse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9075420" y="20574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  <a:ea typeface="Segoe UI" pitchFamily="34" charset="-122"/>
                  <a:cs typeface="Arial" panose="020B0604020202020204" pitchFamily="34" charset="0"/>
                </a:rPr>
                <a:t>4</a:t>
              </a:r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9075420" y="27889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000" b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Verdict + </a:t>
              </a: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giải</a:t>
              </a:r>
              <a:r>
                <a:rPr sz="10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0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thích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9075420" y="3200400"/>
              <a:ext cx="22860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Badge + margin + top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đặc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trưng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đóng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3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góp</a:t>
              </a:r>
              <a:r>
                <a:rPr sz="13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548640" y="4663440"/>
            <a:ext cx="60800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 </a:t>
            </a:r>
            <a:r>
              <a:rPr sz="15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sz="15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JSON: verdict, probability, margin, features, </a:t>
            </a:r>
            <a:r>
              <a:rPr sz="15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top_contributors</a:t>
            </a:r>
            <a:r>
              <a:rPr sz="15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B70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E19406-5D28-87A2-4E01-EEAFC12B8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652" y="1582622"/>
            <a:ext cx="3345516" cy="47443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E5A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ĐOẠN 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 CLI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DetectService.analyze_url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→ in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8244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12564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detect_service.py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12564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Service: load model 1 lần + explainability.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7848" y="1828800"/>
            <a:ext cx="35661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02168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F3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weights.npy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02168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(K×31)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nạp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lúc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3704"/>
            </a:avLst>
          </a:prstGeom>
          <a:solidFill>
            <a:srgbClr val="16263B"/>
          </a:solidFill>
          <a:ln w="12700">
            <a:solidFill>
              <a:srgbClr val="D8DFEA"/>
            </a:solidFill>
            <a:prstDash val="solid"/>
          </a:ln>
          <a:effectLst>
            <a:outerShdw blurRad="101600" dist="254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300" dirty="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python3 </a:t>
            </a:r>
            <a:r>
              <a:rPr sz="1300" dirty="0" err="1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sz="1300" dirty="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1300" dirty="0" err="1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demo.py</a:t>
            </a:r>
            <a:r>
              <a:rPr sz="1300" dirty="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https://</a:t>
            </a:r>
            <a:r>
              <a:rPr sz="1300" dirty="0" err="1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duytan.edu.vn</a:t>
            </a:r>
            <a:r>
              <a:rPr sz="1300" dirty="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300" dirty="0">
                <a:solidFill>
                  <a:srgbClr val="C9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verdict: LEGITIMATE · margin: 11.65</a:t>
            </a: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B70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E5A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ĐOẠN 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 trúc tổng quan webapp (Flask)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E425E8-85CD-DE26-804D-9695FF273485}"/>
              </a:ext>
            </a:extLst>
          </p:cNvPr>
          <p:cNvGrpSpPr/>
          <p:nvPr/>
        </p:nvGrpSpPr>
        <p:grpSpPr>
          <a:xfrm>
            <a:off x="729264" y="1790753"/>
            <a:ext cx="2130552" cy="1952978"/>
            <a:chOff x="548640" y="1828800"/>
            <a:chExt cx="2130552" cy="1952978"/>
          </a:xfrm>
        </p:grpSpPr>
        <p:sp>
          <p:nvSpPr>
            <p:cNvPr id="4" name="Shape 2"/>
            <p:cNvSpPr/>
            <p:nvPr/>
          </p:nvSpPr>
          <p:spPr>
            <a:xfrm>
              <a:off x="548640" y="1828800"/>
              <a:ext cx="2130552" cy="1952978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664914" y="1842909"/>
              <a:ext cx="185623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6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Front-end (client)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64682" y="2403402"/>
              <a:ext cx="1856232" cy="961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index.html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dashboard.html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·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app.js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style.css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4513F4-61BA-D746-51FC-68B7B57C4116}"/>
              </a:ext>
            </a:extLst>
          </p:cNvPr>
          <p:cNvGrpSpPr/>
          <p:nvPr/>
        </p:nvGrpSpPr>
        <p:grpSpPr>
          <a:xfrm>
            <a:off x="3035976" y="1828800"/>
            <a:ext cx="2130552" cy="1952978"/>
            <a:chOff x="4238244" y="1828800"/>
            <a:chExt cx="2130552" cy="1952978"/>
          </a:xfrm>
        </p:grpSpPr>
        <p:sp>
          <p:nvSpPr>
            <p:cNvPr id="7" name="Shape 5"/>
            <p:cNvSpPr/>
            <p:nvPr/>
          </p:nvSpPr>
          <p:spPr>
            <a:xfrm>
              <a:off x="4238244" y="1828800"/>
              <a:ext cx="2130552" cy="1952978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238244" y="1842909"/>
              <a:ext cx="21305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6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Web layer — </a:t>
              </a:r>
              <a:r>
                <a:rPr sz="1600" b="1" dirty="0" err="1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app.py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363974" y="2310718"/>
              <a:ext cx="1856232" cy="1101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Routes /, /dashboard · 6 API JSON (check, analyze, batch, history, stats)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EF35D9-B0CA-2360-E19D-B689BD5BD5BA}"/>
              </a:ext>
            </a:extLst>
          </p:cNvPr>
          <p:cNvGrpSpPr/>
          <p:nvPr/>
        </p:nvGrpSpPr>
        <p:grpSpPr>
          <a:xfrm>
            <a:off x="5342689" y="1828800"/>
            <a:ext cx="2220864" cy="1952978"/>
            <a:chOff x="7927848" y="1828800"/>
            <a:chExt cx="2220864" cy="1952978"/>
          </a:xfrm>
        </p:grpSpPr>
        <p:sp>
          <p:nvSpPr>
            <p:cNvPr id="10" name="Shape 8"/>
            <p:cNvSpPr/>
            <p:nvPr/>
          </p:nvSpPr>
          <p:spPr>
            <a:xfrm>
              <a:off x="7927848" y="1828800"/>
              <a:ext cx="2130552" cy="1952978"/>
            </a:xfrm>
            <a:prstGeom prst="roundRect">
              <a:avLst>
                <a:gd name="adj" fmla="val 1923"/>
              </a:avLst>
            </a:prstGeom>
            <a:solidFill>
              <a:srgbClr val="FFFFFF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055411" y="1842909"/>
              <a:ext cx="185623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1600" b="1" dirty="0">
                  <a:solidFill>
                    <a:srgbClr val="1F3A5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 + Storage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8157013" y="2320876"/>
              <a:ext cx="1991699" cy="961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DetectService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→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feature_extractor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perceptron,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url_utils</a:t>
              </a:r>
              <a:r>
                <a:rPr sz="1400" dirty="0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· SQLite </a:t>
              </a:r>
              <a:r>
                <a:rPr sz="1400" dirty="0" err="1">
                  <a:solidFill>
                    <a:srgbClr val="1E293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history.db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9D15E2-35C3-A269-AFA5-809050AACF36}"/>
              </a:ext>
            </a:extLst>
          </p:cNvPr>
          <p:cNvGrpSpPr/>
          <p:nvPr/>
        </p:nvGrpSpPr>
        <p:grpSpPr>
          <a:xfrm>
            <a:off x="729264" y="4557892"/>
            <a:ext cx="6743977" cy="1322044"/>
            <a:chOff x="548640" y="4447821"/>
            <a:chExt cx="11091672" cy="1234440"/>
          </a:xfrm>
        </p:grpSpPr>
        <p:sp>
          <p:nvSpPr>
            <p:cNvPr id="13" name="Shape 11"/>
            <p:cNvSpPr/>
            <p:nvPr/>
          </p:nvSpPr>
          <p:spPr>
            <a:xfrm>
              <a:off x="548640" y="4447821"/>
              <a:ext cx="11091672" cy="1234440"/>
            </a:xfrm>
            <a:prstGeom prst="roundRect">
              <a:avLst>
                <a:gd name="adj" fmla="val 3704"/>
              </a:avLst>
            </a:prstGeom>
            <a:solidFill>
              <a:srgbClr val="16263B"/>
            </a:solidFill>
            <a:ln w="12700">
              <a:solidFill>
                <a:srgbClr val="D8DFEA"/>
              </a:solidFill>
              <a:prstDash val="solid"/>
            </a:ln>
            <a:effectLst>
              <a:outerShdw blurRad="101600" dist="25400" dir="5400000" algn="bl" rotWithShape="0">
                <a:srgbClr val="0E1B2C">
                  <a:alpha val="12000"/>
                </a:srgbClr>
              </a:outerShdw>
            </a:effectLst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14400" y="4584981"/>
              <a:ext cx="1036015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python3 </a:t>
              </a:r>
              <a:r>
                <a:rPr sz="1300" dirty="0" err="1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src</a:t>
              </a:r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sz="1300" dirty="0" err="1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app.py</a:t>
              </a:r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→  http://127.0.0.1:5000/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 /</a:t>
              </a:r>
              <a:r>
                <a:rPr sz="1300" dirty="0" err="1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api</a:t>
              </a:r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/check {</a:t>
              </a:r>
              <a:r>
                <a:rPr sz="1300" dirty="0" err="1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url</a:t>
              </a:r>
              <a:r>
                <a:rPr sz="1300" dirty="0">
                  <a:solidFill>
                    <a:srgbClr val="C9D6E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 → verdict · probability · margin · features</a:t>
              </a:r>
            </a:p>
          </p:txBody>
        </p:sp>
      </p:grp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B70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CA80B0-3751-A025-2F34-BDB34375D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83" y="1790753"/>
            <a:ext cx="3791752" cy="40494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CAACA-9004-C3C7-CB29-5F7684CA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633CB6-0C8C-8BEF-D246-481AD7407648}"/>
              </a:ext>
            </a:extLst>
          </p:cNvPr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5A8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GIAI ĐOẠN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AEA49F-7DB9-7EE4-19F8-C9ABD912B9CF}"/>
              </a:ext>
            </a:extLst>
          </p:cNvPr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Build webapp (Front-end) — Flask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B24F38-51DF-B70D-3398-E7465F5979FD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7085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website phishing bằng Perceptron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9CC4F5-D87F-07E9-5E1C-2B496D16CE66}"/>
              </a:ext>
            </a:extLst>
          </p:cNvPr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B708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098DB-1286-6A5F-AECC-E68E3C96C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847" y="1435608"/>
            <a:ext cx="4339449" cy="191446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E2169-2517-B36D-4BE6-D28647D43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54" y="1453896"/>
            <a:ext cx="6187196" cy="474497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401B46-5BBD-FEBB-98A5-D9F7324E6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316" y="3501359"/>
            <a:ext cx="2570509" cy="26975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983055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E5A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 ĐOẠN 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 lập Phishing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5"/>
                </a:solidFill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B70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BB7EC-1FD1-550A-86C9-768DF98C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435608"/>
            <a:ext cx="5729453" cy="285261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7A082C-C793-E4EB-0FF6-7E2FAE27D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516" y="1435607"/>
            <a:ext cx="5754093" cy="285261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39821-0BF9-FAD7-049E-4A705B7C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FBCA88-8FBD-E2C9-4083-1EFEAC93F367}"/>
              </a:ext>
            </a:extLst>
          </p:cNvPr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9DB4D0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TỔNG KẾT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35E7E4-BAF4-9915-FAA8-4A52BAC49DC6}"/>
              </a:ext>
            </a:extLst>
          </p:cNvPr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Kết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luận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075E60-45FB-6D1E-371A-09386F6F8D58}"/>
              </a:ext>
            </a:extLst>
          </p:cNvPr>
          <p:cNvSpPr/>
          <p:nvPr/>
        </p:nvSpPr>
        <p:spPr>
          <a:xfrm>
            <a:off x="548640" y="178308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C810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2AD42F-DC08-2AC9-B049-6F7E7B9EBFF3}"/>
              </a:ext>
            </a:extLst>
          </p:cNvPr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8DEAE6-CCD6-76C1-72C9-18D9E5BD1394}"/>
              </a:ext>
            </a:extLst>
          </p:cNvPr>
          <p:cNvSpPr/>
          <p:nvPr/>
        </p:nvSpPr>
        <p:spPr>
          <a:xfrm>
            <a:off x="1233814" y="19212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Đã hoàn thành 4/5 giai đoạn (GĐ1–GĐ4)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9F2CF4-D562-667C-E66E-110071377639}"/>
              </a:ext>
            </a:extLst>
          </p:cNvPr>
          <p:cNvSpPr/>
          <p:nvPr/>
        </p:nvSpPr>
        <p:spPr>
          <a:xfrm>
            <a:off x="548640" y="2743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C810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02CDA5-32C0-76FE-DF9C-49B9B3568E14}"/>
              </a:ext>
            </a:extLst>
          </p:cNvPr>
          <p:cNvSpPr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F4CD74-FB4D-0C34-E138-19DA11B806B0}"/>
              </a:ext>
            </a:extLst>
          </p:cNvPr>
          <p:cNvSpPr/>
          <p:nvPr/>
        </p:nvSpPr>
        <p:spPr>
          <a:xfrm>
            <a:off x="1233814" y="2843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GĐ5 —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trang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phishing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giả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lập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đã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hoàn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thiện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sẵn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sàng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lang="en-US" sz="17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72C39C9-6FAB-F2AA-A0B1-84723BA7A07F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3BC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Phát hiện website phishing bằng Perceptron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58012F1-AD83-2ABD-A693-7507B8CF4078}"/>
              </a:ext>
            </a:extLst>
          </p:cNvPr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FA3BC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-122"/>
                <a:cs typeface="Arial" panose="020B0604020202020204" pitchFamily="34" charset="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95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1810</Words>
  <Application>Microsoft Macintosh PowerPoint</Application>
  <PresentationFormat>Widescreen</PresentationFormat>
  <Paragraphs>281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hiện website phishing bằng Perceptron</dc:title>
  <dc:subject>PptxGenJS Presentation</dc:subject>
  <dc:creator>Nhóm 3 — ĐH Duy Tân</dc:creator>
  <cp:lastModifiedBy>dell</cp:lastModifiedBy>
  <cp:revision>13</cp:revision>
  <dcterms:created xsi:type="dcterms:W3CDTF">2026-09-11T16:27:21Z</dcterms:created>
  <dcterms:modified xsi:type="dcterms:W3CDTF">2026-09-18T11:32:32Z</dcterms:modified>
</cp:coreProperties>
</file>